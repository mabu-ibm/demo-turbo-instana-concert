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AIOps &amp; Observability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Demo Environment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286000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 |  Turbonomic  |  Concert  |  Granite AI  |  MCP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Demo Guide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D2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Demonstrate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216152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362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patterns that trigger real resource pressure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1746504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Observability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1892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tracing, metrics, AI-powered alerting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037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2276856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203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Turbonomic Actions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423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resize &amp; scale decisions from real 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2807208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734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 Vulnerabilities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29535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detection with digest-matched build artifacts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2644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3337560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+ Concert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4838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data flowing into observability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3867912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Granite LLM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0142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on NVIDIA GPU with traces &amp; GPU metrics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325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4440" y="4398264"/>
            <a:ext cx="0" cy="274320"/>
          </a:xfrm>
          <a:prstGeom prst="line">
            <a:avLst/>
          </a:prstGeom>
          <a:noFill/>
          <a:ln w="190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25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MCP-Powered AI Ops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4544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operations via Claude &amp; watsonx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937760" cy="3474720"/>
          </a:xfrm>
          <a:prstGeom prst="rect">
            <a:avLst/>
          </a:prstGeom>
          <a:solidFill>
            <a:srgbClr val="132340"/>
          </a:solidFill>
          <a:ln w="12700">
            <a:solidFill>
              <a:srgbClr val="00D2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  (load-testing namespace)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103120" cy="1097280"/>
          </a:xfrm>
          <a:prstGeom prst="rect">
            <a:avLst/>
          </a:prstGeom>
          <a:solidFill>
            <a:srgbClr val="1A2D4D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Test App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Python 3.9 / Flask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stress-ng, echo flood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ramp, wave patterns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2103120" cy="1097280"/>
          </a:xfrm>
          <a:prstGeom prst="rect">
            <a:avLst/>
          </a:prstGeom>
          <a:solidFill>
            <a:srgbClr val="1A2D4D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Echo Service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Java 11 / Spring Boot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Log4j 2.14.1 (CVE-44228)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</a:rPr>
              <a:t>Intentionally vulnerable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4480560" cy="1005840"/>
          </a:xfrm>
          <a:prstGeom prst="rect">
            <a:avLst/>
          </a:prstGeom>
          <a:solidFill>
            <a:srgbClr val="1A2D4D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0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AI / LLM Infrastructure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Granite Model on vLLM  |  NVIDIA GPU (Spark)  |  WebUI  |  AI Actions in Instana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057400"/>
            <a:ext cx="27432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005840"/>
            <a:ext cx="3383280" cy="731520"/>
          </a:xfrm>
          <a:prstGeom prst="rect">
            <a:avLst/>
          </a:prstGeom>
          <a:solidFill>
            <a:srgbClr val="1A2D4D"/>
          </a:solidFill>
          <a:ln w="10160">
            <a:solidFill>
              <a:srgbClr val="00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051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</a:rPr>
              <a:t>IBM Instana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Observability, Traces, Metrics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274320" cy="0"/>
          </a:xfrm>
          <a:prstGeom prst="line">
            <a:avLst/>
          </a:prstGeom>
          <a:noFill/>
          <a:ln w="12700">
            <a:solidFill>
              <a:srgbClr val="00D2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965960"/>
            <a:ext cx="3383280" cy="731520"/>
          </a:xfrm>
          <a:prstGeom prst="rect">
            <a:avLst/>
          </a:prstGeom>
          <a:solidFill>
            <a:srgbClr val="1A2D4D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IBM Turbonomic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Resource Optimization, Actions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2331720"/>
            <a:ext cx="274320" cy="0"/>
          </a:xfrm>
          <a:prstGeom prst="line">
            <a:avLst/>
          </a:prstGeom>
          <a:noFill/>
          <a:ln w="12700">
            <a:solidFill>
              <a:srgbClr val="2ECC71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926080"/>
            <a:ext cx="3383280" cy="731520"/>
          </a:xfrm>
          <a:prstGeom prst="rect">
            <a:avLst/>
          </a:prstGeom>
          <a:solidFill>
            <a:srgbClr val="1A2D4D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IBM Concert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Vulnerability Management, CVEs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12080" y="3291840"/>
            <a:ext cx="274320" cy="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886200"/>
            <a:ext cx="3383280" cy="731520"/>
          </a:xfrm>
          <a:prstGeom prst="rect">
            <a:avLst/>
          </a:prstGeom>
          <a:solidFill>
            <a:srgbClr val="1A2D4D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MCP Servers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</a:rPr>
              <a:t>Claude &amp; watsonx Integration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12080" y="4251960"/>
            <a:ext cx="274320" cy="0"/>
          </a:xfrm>
          <a:prstGeom prst="line">
            <a:avLst/>
          </a:prstGeom>
          <a:noFill/>
          <a:ln w="12700">
            <a:solidFill>
              <a:srgbClr val="9B59B6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App  (Python 3.9)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Web dashboard with real-time metrics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stress-ng for CPU &amp; memory load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Ramp, Wave, and Constant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Echo Flood for network/log load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Per-job tracking with stop control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Thread-safe, non-blocking design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Waitress production server (8 threads)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Echo Service  (Java 11)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Spring Boot with Log4j 2.14.1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39C12"/>
                </a:solidFill>
              </a:rPr>
              <a:t>CVE-2021-44228 (CVSS 10.0)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39C12"/>
                </a:solidFill>
              </a:rPr>
              <a:t>Old base image with CRITICAL CVEs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39C12"/>
                </a:solidFill>
              </a:rPr>
              <a:t>certifi 2022.12.7 (CVE-2023-37920)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JNDI lookups enabled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Logs all input (vulnerable headers)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docker.io/ image ref with digest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Generation Patterns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645920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Stress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CPU &amp; memory workers for sustained duration. Baseline load for Turbonomic steady-state analysis.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Up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increases CPU workers step-by-step. Triggers Turbonomic scale-up actions as demand grows.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64008" cy="1645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Pattern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Sine-wave oscillating CPU load. Simulates realistic traffic with peaks and valleys.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64008" cy="1645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Flood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N req/sec to echo service. Generates network traffic, logging, and traces in Instana.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  -  Full Stack Observability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91440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Granularity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91440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20240" cy="91440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920240" cy="91440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73152" cy="38404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94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194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traces across Python app, Echo service, vLLM inference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24912"/>
            <a:ext cx="73152" cy="38404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Metrics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724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network for all pods; NVIDIA GPU utilization &amp; temperature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55264"/>
            <a:ext cx="73152" cy="38404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Alerting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25526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using local Granite model via AI Actions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85616"/>
            <a:ext cx="73152" cy="38404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7856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Trace Capture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7856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traces from LLM inference requests visible in service map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73152" cy="38404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315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Perspectives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43159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dashboards for load-testing namespace and dependencies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Turbonomic  -  Resource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73736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6"/>
                </a:solidFill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173736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6"/>
                </a:solidFill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37760" y="1051560"/>
            <a:ext cx="173736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6"/>
                </a:solidFill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32320" y="1051560"/>
            <a:ext cx="1737360" cy="822960"/>
          </a:xfrm>
          <a:prstGeom prst="rect">
            <a:avLst/>
          </a:prstGeom>
          <a:solidFill>
            <a:srgbClr val="13234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Turbonomic Actions Demonstrated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solidFill>
            <a:srgbClr val="1A2D4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Trigger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Visible 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vCPU Resize 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Ramp/Wave pattern saturates CPU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</a:rPr>
              <a:t>Instana + Turbo 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64992"/>
            <a:ext cx="7863840" cy="0"/>
          </a:xfrm>
          <a:prstGeom prst="line">
            <a:avLst/>
          </a:prstGeom>
          <a:noFill/>
          <a:ln w="3810">
            <a:solidFill>
              <a:srgbClr val="8899A6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01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Memory Resize 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3401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Memory workers allocate beyond limits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401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</a:rPr>
              <a:t>Instana + Turbo dashboards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7863840" cy="0"/>
          </a:xfrm>
          <a:prstGeom prst="line">
            <a:avLst/>
          </a:prstGeom>
          <a:noFill/>
          <a:ln w="3810">
            <a:solidFill>
              <a:srgbClr val="8899A6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85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HPA Scale 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0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Sustained high CPU utilization &gt; 70%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785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</a:rPr>
              <a:t>Instana + Turbo dashboards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133088"/>
            <a:ext cx="7863840" cy="0"/>
          </a:xfrm>
          <a:prstGeom prst="line">
            <a:avLst/>
          </a:prstGeom>
          <a:noFill/>
          <a:ln w="3810">
            <a:solidFill>
              <a:srgbClr val="8899A6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69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 Down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26080" y="4169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Load stops, utilization drops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4169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</a:rPr>
              <a:t>Turbo pending actions queue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Concert  -  Vulnerability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00584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10.0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CVE-2021-44228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51760" cy="100584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9.8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 CVE-2023-37920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651760" cy="100584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Vulnerabilities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Concert Detects &amp; Tracks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73152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Digest Matching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docker.io/ prefix + SHA256 digest links running containers to build artifacts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73152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72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172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scans detect CRITICAL CVEs in deployed images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57016"/>
            <a:ext cx="73152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 Tracking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5570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 tracks which builds contain which vulnerabilities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73152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41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Remediation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941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vulnerabilities surfaced for immediate 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25112"/>
            <a:ext cx="73152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25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/ CycloneDX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4325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Bill of Materials with component-level vulnerability mapping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+ Concert Integration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detected in Concert automatically appear in Instana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286000" cy="1097280"/>
          </a:xfrm>
          <a:prstGeom prst="rect">
            <a:avLst/>
          </a:prstGeom>
          <a:solidFill>
            <a:srgbClr val="13234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Concert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6"/>
                </a:solidFill>
              </a:rPr>
              <a:t>&gt;&gt;&gt;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286000" cy="1097280"/>
          </a:xfrm>
          <a:prstGeom prst="rect">
            <a:avLst/>
          </a:prstGeom>
          <a:solidFill>
            <a:srgbClr val="13234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Instana-Concert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6"/>
                </a:solidFill>
              </a:rPr>
              <a:t>&gt;&gt;&gt;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286000" cy="1097280"/>
          </a:xfrm>
          <a:prstGeom prst="rect">
            <a:avLst/>
          </a:prstGeom>
          <a:solidFill>
            <a:srgbClr val="132340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Enables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</a:rPr>
              <a:t>Security context alongside performance data in a single pane of glass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</a:rPr>
              <a:t>Correlate CVE severity with actual runtime exposure and traffic patterns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</a:rPr>
              <a:t>Prioritize remediation based on which vulnerable services are actively serving requests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</a:rPr>
              <a:t>Unified alerting: performance anomalies AND security vulnerabilities in one workflow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 -  Local Granite LLM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594360"/>
          </a:xfrm>
          <a:prstGeom prst="rect">
            <a:avLst/>
          </a:prstGeom>
          <a:solidFill>
            <a:srgbClr val="1323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for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1645920"/>
            <a:ext cx="0" cy="137160"/>
          </a:xfrm>
          <a:prstGeom prst="line">
            <a:avLst/>
          </a:prstGeom>
          <a:noFill/>
          <a:ln w="12700">
            <a:solidFill>
              <a:srgbClr val="8899A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029200" cy="594360"/>
          </a:xfrm>
          <a:prstGeom prst="rect">
            <a:avLst/>
          </a:prstGeom>
          <a:solidFill>
            <a:srgbClr val="13234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for AI Actions &amp;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2377440"/>
            <a:ext cx="0" cy="137160"/>
          </a:xfrm>
          <a:prstGeom prst="line">
            <a:avLst/>
          </a:prstGeom>
          <a:noFill/>
          <a:ln w="12700">
            <a:solidFill>
              <a:srgbClr val="8899A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5029200" cy="594360"/>
          </a:xfrm>
          <a:prstGeom prst="rect">
            <a:avLst/>
          </a:prstGeom>
          <a:solidFill>
            <a:srgbClr val="1323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Serving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514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inference engine (traced by Instana)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3108960"/>
            <a:ext cx="0" cy="137160"/>
          </a:xfrm>
          <a:prstGeom prst="line">
            <a:avLst/>
          </a:prstGeom>
          <a:noFill/>
          <a:ln w="12700">
            <a:solidFill>
              <a:srgbClr val="8899A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32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(Spark)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metrics (utilization, temp, memory) in Instana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051560"/>
            <a:ext cx="3108960" cy="2788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1051560"/>
            <a:ext cx="3108960" cy="45720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Captures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160020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vLLM inference traces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Request latency &amp; throughput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GPU utilization 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GPU temperature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GPU memory usage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Model load times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Error rates &amp; timeouts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 -  AI-Powered Operations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 connects AI assistants to live operational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2011680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MCP Server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Query incidents &amp; events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Analyze infrastructure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Manage dashboards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Search traces &amp;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64008" cy="2011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MCP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List/describe pods &amp; nodes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View logs &amp; events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Execute in pods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Scale resources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931920" cy="594360"/>
          </a:xfrm>
          <a:prstGeom prst="rect">
            <a:avLst/>
          </a:prstGeom>
          <a:solidFill>
            <a:srgbClr val="1A2D4D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31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931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reasoning, code analysis, incident triage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931920"/>
            <a:ext cx="3931920" cy="594360"/>
          </a:xfrm>
          <a:prstGeom prst="rect">
            <a:avLst/>
          </a:prstGeom>
          <a:solidFill>
            <a:srgbClr val="1A2D4D"/>
          </a:solidFill>
          <a:ln w="1016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931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(Bob)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assistant with IBM ecosystem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Demo Sequence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load-test app UI, explain the architecture and patterns available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960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389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Ramp Up 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389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ramp pattern (8 workers, 5 steps). CPU pressure builds visibly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1389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47088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18196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Instana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819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traces, service map, infrastructure metrics rising in 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1819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76856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76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Turbonomic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249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resize/scale-up actions generated by the load increase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22494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06624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Trivy Scan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trivy k8s --namespace load-testing --severity CRITICAL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2679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136392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Concert CVEs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vulnerabilities, digest-matched build artifacts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+ Concert View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91840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vulnerabilities flowing into Instana from Concert connector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3538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995928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Demo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91840" y="3968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Claude/watsonx with MCP to query incidents and cluster state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39684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425696"/>
            <a:ext cx="320040" cy="3200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425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398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&amp; LLM Traces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291840" y="4398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vLLM traces and NVIDIA GPU metrics in Instana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0" y="43982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demo time: ~22 minutes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MTTR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incident analysis with Granite + Instana AI Actions cuts mean-time-to-resolve by surfacing root cause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Optimization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Turbonomic auto-generates right-sizing actions before users experience degradation. No more over-provisioning.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Security 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 + Instana integration means vulnerability data lives alongside runtime observability. One pane of glass.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Operations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enable natural language queries across Instana and Kubernetes. Ask questions, get answers, take action.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Python 3.9 Load Generator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Java 11 Echo Service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Kubernetes (2 replicas + HPA)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docker.io/ images with digest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Ingress + LoadBalancer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IBM Instana (traces, metrics)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IBM Turbonomic (actions)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IBM Concert (CVEs)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Trivy scanning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Instana-Concert connector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Granite on vLLM + NVIDIA GPU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Instana AI 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Instana MCP Server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Kubernetes MCP Server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Claude &amp; watsonx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29000" y="2377440"/>
            <a:ext cx="2286000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github.com/mabu-ibm/Demo-Turbo-Instana-Concert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Instana | Turbonomic | Concert | Granite AI | MCP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D2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AIOps &amp; Observability - Integrated Demo Environment</dc:title>
  <dc:subject>PptxGenJS Presentation</dc:subject>
  <dc:creator>Manfred Buchmann</dc:creator>
  <cp:lastModifiedBy>Manfred Buchmann</cp:lastModifiedBy>
  <cp:revision>1</cp:revision>
  <dcterms:created xsi:type="dcterms:W3CDTF">2026-03-20T18:36:21Z</dcterms:created>
  <dcterms:modified xsi:type="dcterms:W3CDTF">2026-03-20T18:36:21Z</dcterms:modified>
</cp:coreProperties>
</file>